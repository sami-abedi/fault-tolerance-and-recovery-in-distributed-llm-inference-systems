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0" y="3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US"/>
              <a:t>Recovery Time (ms)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Time (ms)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dPt>
          <c:dPt>
            <c:idx val="1"/>
            <c:invertIfNegative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dPt>
          <c:dPt>
            <c:idx val="2"/>
            <c:invertIfNegative val="1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</c:dPt>
          <c:cat>
            <c:strRef>
              <c:f>Sheet1!$A$2:$A$4</c:f>
              <c:strCache>
                <c:ptCount val="3"/>
                <c:pt idx="0">
                  <c:v>Fail-Stop</c:v>
                </c:pt>
                <c:pt idx="1">
                  <c:v>Retry</c:v>
                </c:pt>
                <c:pt idx="2">
                  <c:v>TCR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2605</c:v>
                </c:pt>
                <c:pt idx="2">
                  <c:v>1062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BD-46A9-9A3A-14D36DAEC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US"/>
              <a:t>Tokens Recomputed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Tokens Recomputed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Fail-Stop</c:v>
                </c:pt>
                <c:pt idx="1">
                  <c:v>Retry</c:v>
                </c:pt>
                <c:pt idx="2">
                  <c:v>TCR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67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0D-4D57-8DDF-BA85042BDC4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65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— start strong, no title slide.</a:t>
            </a:r>
          </a:p>
          <a:p>
            <a:endParaRPr/>
          </a:p>
          <a:p>
            <a:r>
              <a:t>You've just submitted a prompt to ChatGPT. It's been typing for several seconds. 200 tokens in, the response just... stops. Blank screen. Error.</a:t>
            </a:r>
          </a:p>
          <a:p>
            <a:endParaRPr/>
          </a:p>
          <a:p>
            <a:r>
              <a:t>What just happened? A worker process crashed. And now the system has to decide: do we give up, do we start over, or is there a smarter way?</a:t>
            </a:r>
          </a:p>
          <a:p>
            <a:endParaRPr/>
          </a:p>
          <a:p>
            <a:r>
              <a:t>This talk is about that smarter way: Token Commit &amp; Resume — incremental token-level checkpointing that lets a distributed LLM system recover from mid-generation crashes without redoing all the work.</a:t>
            </a:r>
          </a:p>
          <a:p>
            <a:endParaRPr/>
          </a:p>
          <a:p>
            <a:r>
              <a:t>Don't explain the system yet. Just set the scene and let the question hang in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STAKES — why does this problem matter?</a:t>
            </a:r>
          </a:p>
          <a:p>
            <a:endParaRPr/>
          </a:p>
          <a:p>
            <a:r>
              <a:t>LLM inference is now mission-critical infrastructure. OpenAI alone processes billions of tokens per day. Every production deployment has strict SLAs: users expect sub-2-second p99 responses and near-five-nines uptime.</a:t>
            </a:r>
          </a:p>
          <a:p>
            <a:endParaRPr/>
          </a:p>
          <a:p>
            <a:r>
              <a:t>The problem: LLM workers are long-running processes that hold large model weights in GPU memory. They crash. GPUs fail. Kubernetes restarts pods. Transient network errors kill connections.</a:t>
            </a:r>
          </a:p>
          <a:p>
            <a:endParaRPr/>
          </a:p>
          <a:p>
            <a:r>
              <a:t>A single crash mid-generation violates all three guarantees at once: you lose the tokens already generated (compute waste), the user's latency explodes (SLA breach), and the request fails (availability hit).</a:t>
            </a:r>
          </a:p>
          <a:p>
            <a:endParaRPr/>
          </a:p>
          <a:p>
            <a:r>
              <a:t>This is not a hypothetical. It happens constantly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FAILURE SCENARIO — make it concrete.</a:t>
            </a:r>
          </a:p>
          <a:p>
            <a:endParaRPr/>
          </a:p>
          <a:p>
            <a:r>
              <a:t>Walk through what happens in a real distributed LLM inference system:</a:t>
            </a:r>
          </a:p>
          <a:p>
            <a:endParaRPr/>
          </a:p>
          <a:p>
            <a:r>
              <a:t>1. User sends a prompt. The router dispatches it to Worker 2.</a:t>
            </a:r>
          </a:p>
          <a:p>
            <a:r>
              <a:t>2. Worker 2 starts autoregressive generation — one token at a time.</a:t>
            </a:r>
          </a:p>
          <a:p>
            <a:r>
              <a:t>3. At token 200, the OS sends SIGKILL. Maybe a GPU OOM, maybe a health check timeout, maybe a Kubernetes eviction.</a:t>
            </a:r>
          </a:p>
          <a:p>
            <a:r>
              <a:t>4. The connection drops. The partial response is lost.</a:t>
            </a:r>
          </a:p>
          <a:p>
            <a:r>
              <a:t>5. The user gets an error, or waits forever.</a:t>
            </a:r>
          </a:p>
          <a:p>
            <a:endParaRPr/>
          </a:p>
          <a:p>
            <a:r>
              <a:t>Those 200 tokens took real GPU compute time — maybe 2-3 seconds of work. It's all gone.</a:t>
            </a:r>
          </a:p>
          <a:p>
            <a:endParaRPr/>
          </a:p>
          <a:p>
            <a:r>
              <a:t>The system needs to decide: what do we do next?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THE NAIVE APPROACH FAILS — very important slide.</a:t>
            </a:r>
          </a:p>
          <a:p>
            <a:endParaRPr/>
          </a:p>
          <a:p>
            <a:r>
              <a:t>The obvious answer: just restart the request. Send it to another worker and generate again from token 0.</a:t>
            </a:r>
          </a:p>
          <a:p>
            <a:endParaRPr/>
          </a:p>
          <a:p>
            <a:r>
              <a:t>But this is deeply wasteful. You already computed 200 tokens. That work is thrown away entirely. Now you're paying the full generation cost again — for EVERY failed request.</a:t>
            </a:r>
          </a:p>
          <a:p>
            <a:endParaRPr/>
          </a:p>
          <a:p>
            <a:r>
              <a:t>Under adversarial fault conditions (say, 50% of requests experience a kill fault), you're now spending 2× the compute budget per completed response.</a:t>
            </a:r>
          </a:p>
          <a:p>
            <a:endParaRPr/>
          </a:p>
          <a:p>
            <a:r>
              <a:t>The latency impact is even worse: user-facing p99 latency doubles or triples. At scale, this cascades.</a:t>
            </a:r>
          </a:p>
          <a:p>
            <a:endParaRPr/>
          </a:p>
          <a:p>
            <a:r>
              <a:t>There must be a smarter approach. What if we could save progress and resume?</a:t>
            </a:r>
          </a:p>
          <a:p>
            <a:endParaRPr/>
          </a:p>
          <a:p>
            <a:r>
              <a:t>This is the core motivation for Token Commit &amp;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SYSTEM ARCHITECTURE — the design at a glance.</a:t>
            </a:r>
          </a:p>
          <a:p>
            <a:endParaRPr dirty="0"/>
          </a:p>
          <a:p>
            <a:r>
              <a:rPr dirty="0"/>
              <a:t>The CrashSafe system has three main components:</a:t>
            </a:r>
          </a:p>
          <a:p>
            <a:endParaRPr dirty="0"/>
          </a:p>
          <a:p>
            <a:r>
              <a:rPr dirty="0"/>
              <a:t>1. ROUTER: receives user requests, dispatches to workers via round-robin (or least-loaded). Maintains a background health check loop. Also exposes a fault injection API for experiments.</a:t>
            </a:r>
          </a:p>
          <a:p>
            <a:endParaRPr dirty="0"/>
          </a:p>
          <a:p>
            <a:r>
              <a:rPr dirty="0"/>
              <a:t>2. WORKERS: </a:t>
            </a:r>
            <a:r>
              <a:rPr dirty="0" err="1"/>
              <a:t>FastAPI</a:t>
            </a:r>
            <a:r>
              <a:rPr dirty="0"/>
              <a:t> processes, each running the inference backend (mock or </a:t>
            </a:r>
            <a:r>
              <a:rPr dirty="0" err="1"/>
              <a:t>HuggingFace</a:t>
            </a:r>
            <a:r>
              <a:rPr dirty="0"/>
              <a:t>). Each worker has a </a:t>
            </a:r>
            <a:r>
              <a:rPr dirty="0" err="1"/>
              <a:t>FaultState</a:t>
            </a:r>
            <a:r>
              <a:rPr dirty="0"/>
              <a:t> that can be armed via /admin/fault — then fires on the next inference call (SIGKILL, hang, delay, or graceful shutdown).</a:t>
            </a:r>
          </a:p>
          <a:p>
            <a:endParaRPr dirty="0"/>
          </a:p>
          <a:p>
            <a:r>
              <a:rPr dirty="0"/>
              <a:t>3. RECOVERY STRATEGY: wraps the </a:t>
            </a:r>
            <a:r>
              <a:rPr dirty="0" err="1"/>
              <a:t>generate_fn</a:t>
            </a:r>
            <a:r>
              <a:rPr dirty="0"/>
              <a:t> callback. Three pluggable strategies: Fail-Stop, Retry-from-Scratch, Token-Commit-Resume. The strategy is selected at config time.</a:t>
            </a:r>
          </a:p>
          <a:p>
            <a:endParaRPr dirty="0"/>
          </a:p>
          <a:p>
            <a:r>
              <a:rPr dirty="0"/>
              <a:t>BONUS: The Token Store (JSONL on disk) is the key data structure for TCR. It persists token checkpoints between crashes.</a:t>
            </a:r>
          </a:p>
          <a:p>
            <a:endParaRPr dirty="0"/>
          </a:p>
          <a:p>
            <a:r>
              <a:rPr dirty="0"/>
              <a:t>Keep this slide brief — the architecture is simple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STRATEGIES — the design space.</a:t>
            </a:r>
          </a:p>
          <a:p>
            <a:endParaRPr/>
          </a:p>
          <a:p>
            <a:r>
              <a:t>We implement and compare three recovery strategies, each representing a distinct design philosophy:</a:t>
            </a:r>
          </a:p>
          <a:p>
            <a:endParaRPr/>
          </a:p>
          <a:p>
            <a:r>
              <a:t>FAIL-STOP: Zero overhead baseline. No recovery attempt. Return an error immediately. Useful for applications that prefer fast failure over slow degradation. Zero compute waste, but zero availability under kill faults.</a:t>
            </a:r>
          </a:p>
          <a:p>
            <a:endParaRPr/>
          </a:p>
          <a:p>
            <a:r>
              <a:t>RETRY FROM SCRATCH: The current industry-standard approach. On failure, select a new healthy worker and regenerate the full response from token 0. Guarantees eventual correctness (with enough retries) but wastes all prior computation.</a:t>
            </a:r>
          </a:p>
          <a:p>
            <a:endParaRPr/>
          </a:p>
          <a:p>
            <a:r>
              <a:t>TOKEN COMMIT &amp; RESUME (our contribution): On each token (or every N tokens), append to a JSONL checkpoint file. On failure, read the checkpoint and resume from the last committed token. The backend's deterministic property ensures output equivalence — the resumed response is identical to what the full generation would have produced.</a:t>
            </a:r>
          </a:p>
          <a:p>
            <a:endParaRPr/>
          </a:p>
          <a:p>
            <a:r>
              <a:t>This slide sets up the comparison. The punch line comes later: TCR achieves 57% lower recovery time and 65% less wasted compute vs. Retry.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FAIL-STOP — the zero-overhead baseline.</a:t>
            </a:r>
          </a:p>
          <a:p>
            <a:endParaRPr/>
          </a:p>
          <a:p>
            <a:r>
              <a:t>In Fail-Stop, the router makes exactly one attempt. If the worker dies, the request immediately fails with an error. No retry, no recovery.</a:t>
            </a:r>
          </a:p>
          <a:p>
            <a:endParaRPr/>
          </a:p>
          <a:p>
            <a:r>
              <a:t>This is actually the right choice in some scenarios:</a:t>
            </a:r>
          </a:p>
          <a:p>
            <a:r>
              <a:t>- Hard real-time systems where latency bounds matter more than success rate</a:t>
            </a:r>
          </a:p>
          <a:p>
            <a:r>
              <a:t>- Systems with a human in the loop who can retry manually</a:t>
            </a:r>
          </a:p>
          <a:p>
            <a:r>
              <a:t>- Stateless or idempotent requests that are cheap to re-submit</a:t>
            </a:r>
          </a:p>
          <a:p>
            <a:endParaRPr/>
          </a:p>
          <a:p>
            <a:r>
              <a:t>But for LLM serving, this is the worst outcome for users: they see a confusing error, lose their response, and have to start over manually.</a:t>
            </a:r>
          </a:p>
          <a:p>
            <a:endParaRPr/>
          </a:p>
          <a:p>
            <a:r>
              <a:t>Our experiments confirm: Fail-Stop has 72% success rate under kill faults (28% of requests just fail).</a:t>
            </a:r>
          </a:p>
          <a:p>
            <a:endParaRPr/>
          </a:p>
          <a:p>
            <a:r>
              <a:t>This is the baseline we're trying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RETRY FROM SCRATCH — the current default.</a:t>
            </a:r>
          </a:p>
          <a:p>
            <a:endParaRPr/>
          </a:p>
          <a:p>
            <a:r>
              <a:t>Retry picks a new healthy worker, re-sends the ORIGINAL request, and generates all tokens from scratch again. Uses exponential backoff between retries.</a:t>
            </a:r>
          </a:p>
          <a:p>
            <a:endParaRPr/>
          </a:p>
          <a:p>
            <a:r>
              <a:t>Advantages:</a:t>
            </a:r>
          </a:p>
          <a:p>
            <a:r>
              <a:t>- Dead simple to implement (5 lines of code)</a:t>
            </a:r>
          </a:p>
          <a:p>
            <a:r>
              <a:t>- 100% success rate as long as any worker is alive</a:t>
            </a:r>
          </a:p>
          <a:p>
            <a:r>
              <a:t>- Correct by construction</a:t>
            </a:r>
          </a:p>
          <a:p>
            <a:endParaRPr/>
          </a:p>
          <a:p>
            <a:r>
              <a:t>Disadvantages:</a:t>
            </a:r>
          </a:p>
          <a:p>
            <a:r>
              <a:t>- Every crash doubles the compute cost for that request</a:t>
            </a:r>
          </a:p>
          <a:p>
            <a:r>
              <a:t>- Under frequent faults, p99 latency explodes</a:t>
            </a:r>
          </a:p>
          <a:p>
            <a:r>
              <a:t>- Tokens already generated are a total loss — we call this tokens_recomputed = 100%</a:t>
            </a:r>
          </a:p>
          <a:p>
            <a:endParaRPr/>
          </a:p>
          <a:p>
            <a:r>
              <a:t>In our experiments, Retry achieves 100% success but spends 2605ms in recovery overhead and recomputes 67% of tokens on average under kill faults.</a:t>
            </a:r>
          </a:p>
          <a:p>
            <a:endParaRPr/>
          </a:p>
          <a:p>
            <a:r>
              <a:t>The question is: can we do better without sacrificing correctness?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TOKEN COMMIT &amp; RESUME — the core contribution.</a:t>
            </a:r>
          </a:p>
          <a:p>
            <a:endParaRPr/>
          </a:p>
          <a:p>
            <a:r>
              <a:t>The insight: autoregressive LLM generation is sequential and deterministic. Every token is generated one at a time. If we save that token to disk immediately, we can recover from any crash by skipping the tokens we already have.</a:t>
            </a:r>
          </a:p>
          <a:p>
            <a:endParaRPr/>
          </a:p>
          <a:p>
            <a:r>
              <a:t>Mechanism:</a:t>
            </a:r>
          </a:p>
          <a:p>
            <a:r>
              <a:t>1. Before generation starts, initialize a JSONL checkpoint file with a header (prompt, request_id, timestamp).</a:t>
            </a:r>
          </a:p>
          <a:p>
            <a:r>
              <a:t>2. After each token is generated, append a line: {"position": k, "token_id": 42, "text": " the"}.</a:t>
            </a:r>
          </a:p>
          <a:p>
            <a:r>
              <a:t>3. If a crash occurs, the next attempt reads the checkpoint: "I already have tokens 0..199, start generating from position 200."</a:t>
            </a:r>
          </a:p>
          <a:p>
            <a:r>
              <a:t>4. The partial result is deterministic — same model, same prompt, same position = same token.</a:t>
            </a:r>
          </a:p>
          <a:p>
            <a:r>
              <a:t>5. On successful completion, delete the checkpoint file.</a:t>
            </a:r>
          </a:p>
          <a:p>
            <a:endParaRPr/>
          </a:p>
          <a:p>
            <a:r>
              <a:t>This is the output equivalence property: resumed generation produces bit-for-bit identical output to full generation. The user can't tell the difference.</a:t>
            </a:r>
          </a:p>
          <a:p>
            <a:endParaRPr/>
          </a:p>
          <a:p>
            <a:r>
              <a:t>Result: we only recompute from the last checkpoint position. If we crashed at token 200 and the last checkpoint was at token 175, we recompute 25 tokens instead of 400.</a:t>
            </a:r>
          </a:p>
          <a:p>
            <a:endParaRPr/>
          </a:p>
          <a:p>
            <a:r>
              <a:t>In experiments: 22% tokens recomputed on average vs 67% for Retry. Recovery time: 1062ms vs 2605ms.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TCR WORKS — the engineering detail.</a:t>
            </a:r>
          </a:p>
          <a:p>
            <a:endParaRPr/>
          </a:p>
          <a:p>
            <a:r>
              <a:t>Step 1 — Generate &amp; Checkpoint:</a:t>
            </a:r>
          </a:p>
          <a:p>
            <a:r>
              <a:t>The strategy wraps the generate_fn callback. Before the first attempt, it calls token_store.initialize() to write a header line. For each token yielded by the backend, it appends a JSONL line with the token position, ID, and decoded text. These writes are small and sequential — very fast on any modern SSD.</a:t>
            </a:r>
          </a:p>
          <a:p>
            <a:endParaRPr/>
          </a:p>
          <a:p>
            <a:r>
              <a:t>Step 2 — Crash Occurs:</a:t>
            </a:r>
          </a:p>
          <a:p>
            <a:r>
              <a:t>The worker process receives SIGKILL (or hangs, or delays). The HTTP connection drops. The strategy catches the exception. Crucially, the JSONL file on disk is NOT deleted — it persists. The partial checkpoint is safe.</a:t>
            </a:r>
          </a:p>
          <a:p>
            <a:endParaRPr/>
          </a:p>
          <a:p>
            <a:r>
              <a:t>Step 3 — Load &amp; Resume:</a:t>
            </a:r>
          </a:p>
          <a:p>
            <a:r>
              <a:t>On the next attempt, the strategy calls token_store.load() to read all committed tokens. It builds a new InferenceRequest with resume_from_tokens=[list of committed token IDs]. The backend skips those positions and generates from position K onward. The router selects a healthy worker for this resumed request.</a:t>
            </a:r>
          </a:p>
          <a:p>
            <a:endParaRPr/>
          </a:p>
          <a:p>
            <a:r>
              <a:t>Key implementation detail: token_store.load() skips malformed lines (partial writes at crash time are safe). The checkpoint is deleted only on successful completion.</a:t>
            </a:r>
          </a:p>
          <a:p>
            <a:endParaRPr/>
          </a:p>
          <a:p>
            <a:r>
              <a:t>Storage: ~50 bytes per token. For a 512-token response, that's ~25KB per request. Very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RECOVERY TIMELINE — visual comparison.</a:t>
            </a:r>
          </a:p>
          <a:p>
            <a:endParaRPr/>
          </a:p>
          <a:p>
            <a:r>
              <a:t>This slide shows the three strategies on a unified time axis, making the trade-offs immediately obvious.</a:t>
            </a:r>
          </a:p>
          <a:p>
            <a:endParaRPr/>
          </a:p>
          <a:p>
            <a:r>
              <a:t>Fail-Stop: instant (no recovery work). But the user sees an error.</a:t>
            </a:r>
          </a:p>
          <a:p>
            <a:r>
              <a:t>Retry: goes all the way to the right — 2605ms of extra work. That's on top of the original generation time.</a:t>
            </a:r>
          </a:p>
          <a:p>
            <a:r>
              <a:t>TCR: stops at 1062ms — less than half the retry time. The savings come from skipping already-generated tokens.</a:t>
            </a:r>
          </a:p>
          <a:p>
            <a:endParaRPr/>
          </a:p>
          <a:p>
            <a:r>
              <a:t>The key insight from this visualization: the recovery overhead is proportional to how many tokens you have to regenerate. TCR checkpoints at every token, so the maximum tokens_recomputed is bounded by the checkpoint interval (1 in our implementation).</a:t>
            </a:r>
          </a:p>
          <a:p>
            <a:endParaRPr/>
          </a:p>
          <a:p>
            <a:r>
              <a:t>In the worst case (crash on token 1), TCR and Retry are equivalent. But on average, TCR is 57% faster.</a:t>
            </a:r>
          </a:p>
          <a:p>
            <a:endParaRPr/>
          </a:p>
          <a:p>
            <a:r>
              <a:t>Ask the audience: where does the remaining 22% come from? Answer: the overhead of reading the checkpoint file, sending the resume request to a new worker, and regenerating the uncommitted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EXPERIMENT SETUP — what we measured.</a:t>
            </a:r>
          </a:p>
          <a:p>
            <a:endParaRPr/>
          </a:p>
          <a:p>
            <a:r>
              <a:t>We ran a full factorial sweep across:</a:t>
            </a:r>
          </a:p>
          <a:p>
            <a:r>
              <a:t>- 3 recovery strategies: Fail-Stop, Retry, TCR</a:t>
            </a:r>
          </a:p>
          <a:p>
            <a:r>
              <a:t>- 4 fault types: KILL (SIGKILL), HANG (sleep+timeout), DELAY (slow response), NONE (baseline)</a:t>
            </a:r>
          </a:p>
          <a:p>
            <a:r>
              <a:t>- 3 concurrency levels: 1, 4, 8 parallel requests</a:t>
            </a:r>
          </a:p>
          <a:p>
            <a:r>
              <a:t>- 3 prompt lengths: short (32 tokens), medium (128), long (256)</a:t>
            </a:r>
          </a:p>
          <a:p>
            <a:endParaRPr/>
          </a:p>
          <a:p>
            <a:r>
              <a:t>That's 3 × 4 × 3 × 3 = 108 experimental cells, with 10 requests each for statistical validity.</a:t>
            </a:r>
          </a:p>
          <a:p>
            <a:endParaRPr/>
          </a:p>
          <a:p>
            <a:r>
              <a:t>Metrics collected per request:</a:t>
            </a:r>
          </a:p>
          <a:p>
            <a:r>
              <a:t>- Total latency (ms)</a:t>
            </a:r>
          </a:p>
          <a:p>
            <a:r>
              <a:t>- Time-to-first-token (TTFT)</a:t>
            </a:r>
          </a:p>
          <a:p>
            <a:r>
              <a:t>- Recovery time (time between crash and first resumed token)</a:t>
            </a:r>
          </a:p>
          <a:p>
            <a:r>
              <a:t>- Tokens recomputed (% of total)</a:t>
            </a:r>
          </a:p>
          <a:p>
            <a:r>
              <a:t>- Success/failure</a:t>
            </a:r>
          </a:p>
          <a:p>
            <a:endParaRPr/>
          </a:p>
          <a:p>
            <a:r>
              <a:t>The grid on this slide shows the expected outcome pattern: Fail-Stop performs poorly under kill and hang faults (dark red cells), while Retry and TCR succeed but at different costs.</a:t>
            </a:r>
          </a:p>
          <a:p>
            <a:endParaRPr/>
          </a:p>
          <a:p>
            <a:r>
              <a:t>The NONE fault type serves as the baseline — all strategies should be equivalent with no 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RESULTS — the key numbers.</a:t>
            </a:r>
          </a:p>
          <a:p>
            <a:endParaRPr/>
          </a:p>
          <a:p>
            <a:r>
              <a:t>Under KILL faults (the harshest scenario where worker processes are forcibly terminated):</a:t>
            </a:r>
          </a:p>
          <a:p>
            <a:endParaRPr/>
          </a:p>
          <a:p>
            <a:r>
              <a:t>Recovery Time:</a:t>
            </a:r>
          </a:p>
          <a:p>
            <a:r>
              <a:t>- Fail-Stop: 0ms recovery (no recovery attempted — just returns error)</a:t>
            </a:r>
          </a:p>
          <a:p>
            <a:r>
              <a:t>- Retry: 2605ms average recovery overhead</a:t>
            </a:r>
          </a:p>
          <a:p>
            <a:r>
              <a:t>- TCR: 1062ms average recovery overhead  → 57% reduction</a:t>
            </a:r>
          </a:p>
          <a:p>
            <a:endParaRPr/>
          </a:p>
          <a:p>
            <a:r>
              <a:t>Tokens Recomputed:</a:t>
            </a:r>
          </a:p>
          <a:p>
            <a:r>
              <a:t>- Fail-Stop: 0% (no recomputation attempted)</a:t>
            </a:r>
          </a:p>
          <a:p>
            <a:r>
              <a:t>- Retry: 67% of max_new_tokens on average</a:t>
            </a:r>
          </a:p>
          <a:p>
            <a:r>
              <a:t>- TCR: 22% of max_new_tokens on average  → 65% reduction</a:t>
            </a:r>
          </a:p>
          <a:p>
            <a:endParaRPr/>
          </a:p>
          <a:p>
            <a:r>
              <a:t>Success Rate:</a:t>
            </a:r>
          </a:p>
          <a:p>
            <a:r>
              <a:t>- Fail-Stop: 72% (28% of requests just fail)</a:t>
            </a:r>
          </a:p>
          <a:p>
            <a:r>
              <a:t>- Retry: 100% (always recovers)</a:t>
            </a:r>
          </a:p>
          <a:p>
            <a:r>
              <a:t>- TCR: 100% (always recovers)</a:t>
            </a:r>
          </a:p>
          <a:p>
            <a:endParaRPr/>
          </a:p>
          <a:p>
            <a:r>
              <a:t>Importantly, TCR and Retry have identical success rates — TCR achieves the same reliability guarantee while dramatically reducing compute waste and latency overhead.</a:t>
            </a:r>
          </a:p>
          <a:p>
            <a:endParaRPr/>
          </a:p>
          <a:p>
            <a:r>
              <a:t>The 22% residual for TCR comes from: tokens generated between the last checkpoint and the crash point that were not yet committed to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INSIGHT — what does this all mean?</a:t>
            </a:r>
          </a:p>
          <a:p>
            <a:endParaRPr/>
          </a:p>
          <a:p>
            <a:r>
              <a:t>The core insight is about granularity.</a:t>
            </a:r>
          </a:p>
          <a:p>
            <a:endParaRPr/>
          </a:p>
          <a:p>
            <a:r>
              <a:t>Traditional recovery systems checkpoint at the level of requests (retry entire request), checkpoints (restart from last save point in a database), or epochs (restart from last epoch in ML training).</a:t>
            </a:r>
          </a:p>
          <a:p>
            <a:endParaRPr/>
          </a:p>
          <a:p>
            <a:r>
              <a:t>For LLM inference, the natural unit of work is a token. And tokens are tiny (~50 bytes each) and cheap to write. So we can afford to checkpoint at token granularity — every single token.</a:t>
            </a:r>
          </a:p>
          <a:p>
            <a:endParaRPr/>
          </a:p>
          <a:p>
            <a:r>
              <a:t>This reduces the worst-case recomputation window from N tokens (full request) to 1 token (just the one after the last checkpoint).</a:t>
            </a:r>
          </a:p>
          <a:p>
            <a:endParaRPr/>
          </a:p>
          <a:p>
            <a:r>
              <a:t>The practical lesson extends beyond LLMs: when designing any recovery system, ask yourself: what is the smallest unit of completed, durable work? Can I make that unit smaller? What's the cost of doing so?</a:t>
            </a:r>
          </a:p>
          <a:p>
            <a:endParaRPr/>
          </a:p>
          <a:p>
            <a:r>
              <a:t>For autoregressive generation, the answer is clear: the token is the natural checkpoint unit, and the cost of checkpointing it is negligible compared to the cost of generating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CONCLUSION — wrap it up and leave them with something to think about.</a:t>
            </a:r>
          </a:p>
          <a:p>
            <a:endParaRPr dirty="0"/>
          </a:p>
          <a:p>
            <a:r>
              <a:rPr dirty="0"/>
              <a:t>Summary of contributions:</a:t>
            </a:r>
          </a:p>
          <a:p>
            <a:r>
              <a:rPr dirty="0"/>
              <a:t>1. We built CrashSafe: a complete distributed LLM inference system with pluggable fault tolerance.</a:t>
            </a:r>
          </a:p>
          <a:p>
            <a:r>
              <a:rPr dirty="0"/>
              <a:t>2. We implemented three recovery strategies: Fail-Stop, Retry-from-Scratch, and Token Commit &amp; Resume.</a:t>
            </a:r>
          </a:p>
          <a:p>
            <a:r>
              <a:rPr dirty="0"/>
              <a:t>3. We showed experimentally that TCR achieves the same 100% success rate as Retry while reducing recovery time by 57% and wasted compute by 65%.</a:t>
            </a:r>
          </a:p>
          <a:p>
            <a:r>
              <a:rPr dirty="0"/>
              <a:t>4. The output equivalence property ensures TCR produces identical responses — users see no difference.</a:t>
            </a:r>
          </a:p>
          <a:p>
            <a:endParaRPr dirty="0"/>
          </a:p>
          <a:p>
            <a:r>
              <a:rPr dirty="0"/>
              <a:t>Open questions for future work:</a:t>
            </a:r>
          </a:p>
          <a:p>
            <a:r>
              <a:rPr dirty="0"/>
              <a:t>- Adaptive checkpoint intervals: check every N tokens instead of every 1</a:t>
            </a:r>
          </a:p>
          <a:p>
            <a:r>
              <a:rPr dirty="0"/>
              <a:t>- KV-cache sharing: can we transfer the KV cache across workers to truly resume computation without re-feeding the prompt?</a:t>
            </a:r>
          </a:p>
          <a:p>
            <a:r>
              <a:rPr dirty="0"/>
              <a:t>- Storage tiers: use memory-mapped files for sub-millisecond checkpoint writes</a:t>
            </a:r>
          </a:p>
          <a:p>
            <a:r>
              <a:rPr dirty="0"/>
              <a:t>- Partial failure detection: can we predict crashes before they happen and proactively checkpoint?</a:t>
            </a:r>
          </a:p>
          <a:p>
            <a:endParaRPr dirty="0"/>
          </a:p>
          <a:p>
            <a:r>
              <a:rPr dirty="0"/>
              <a:t>Thank the audience and invite questions.</a:t>
            </a:r>
          </a:p>
          <a:p>
            <a:endParaRPr dirty="0"/>
          </a:p>
          <a:p>
            <a:r>
              <a:rPr dirty="0"/>
              <a:t>Key Q&amp;A to be ready for:</a:t>
            </a:r>
          </a:p>
          <a:p>
            <a:r>
              <a:rPr dirty="0"/>
              <a:t>- "Is the JSONL checkpoint write a bottleneck?" → No: ~50 bytes/token, SSD sequential write is fast.</a:t>
            </a:r>
          </a:p>
          <a:p>
            <a:r>
              <a:rPr dirty="0"/>
              <a:t>- "What about the KV cache?" → We don't transfer it. The resumed worker re-feeds the prompt + committed tokens to rebuild. This is the remaining 22% overhead.</a:t>
            </a:r>
          </a:p>
          <a:p>
            <a:r>
              <a:rPr dirty="0"/>
              <a:t>- "Is output equivalence guaranteed with sampling?" → Only with deterministic sampling (temperature=0 or same seed). Production systems need to consider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i-abedi/Fault-Tolerance-and-Recovery-in-Distributed-LLM-Inference-System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A8948-8230-9FCC-89E4-EA3129373A3B}"/>
              </a:ext>
            </a:extLst>
          </p:cNvPr>
          <p:cNvSpPr txBox="1"/>
          <p:nvPr/>
        </p:nvSpPr>
        <p:spPr>
          <a:xfrm>
            <a:off x="127591" y="96337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64748B"/>
                </a:solidFill>
                <a:latin typeface="Calibri"/>
              </a:rPr>
              <a:t>Fault Tolerance and Recovery in Distributed LLM Inference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10FD7-7B36-72CE-8F33-5A6CD29B610E}"/>
              </a:ext>
            </a:extLst>
          </p:cNvPr>
          <p:cNvSpPr txBox="1"/>
          <p:nvPr/>
        </p:nvSpPr>
        <p:spPr>
          <a:xfrm>
            <a:off x="127591" y="184615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Team – 8  CrashSafe</a:t>
            </a:r>
            <a:br>
              <a:rPr lang="en-US" sz="1800" b="1" i="0" dirty="0">
                <a:solidFill>
                  <a:srgbClr val="FFFFFF"/>
                </a:solidFill>
                <a:latin typeface="Calibri"/>
              </a:rPr>
            </a:br>
            <a:br>
              <a:rPr lang="en-US" sz="1800" b="1" i="0" dirty="0">
                <a:solidFill>
                  <a:srgbClr val="FFFFFF"/>
                </a:solidFill>
                <a:latin typeface="Calibri"/>
              </a:rPr>
            </a:b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Syed Mohammed Sami Abedi </a:t>
            </a:r>
          </a:p>
          <a:p>
            <a:pPr algn="l"/>
            <a:r>
              <a:rPr lang="en-US" b="1" dirty="0">
                <a:solidFill>
                  <a:srgbClr val="FFFFFF"/>
                </a:solidFill>
                <a:latin typeface="Calibri"/>
              </a:rPr>
              <a:t>Jay Rakesh Patel </a:t>
            </a:r>
            <a:endParaRPr lang="en-US" sz="1800" b="1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75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200 tokens.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0" i="0">
                <a:solidFill>
                  <a:srgbClr val="5EEAD4"/>
                </a:solidFill>
                <a:latin typeface="Calibri"/>
              </a:rPr>
              <a:t>Then silence.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What happens when your LLM crashes mid-response?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Team CrashSafe  ·  Fault Tolerance and Recovery in Distributed LLM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LLM serving is everywhere — and it's fragile.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606040" cy="292608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0D9488"/>
                </a:solidFill>
                <a:latin typeface="Calibri"/>
              </a:rPr>
              <a:t>40 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tokens served / day
(OpenAI, Feb 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606040" cy="292608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508760"/>
            <a:ext cx="26060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64592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D97706"/>
                </a:solidFill>
                <a:latin typeface="Calibri"/>
              </a:rPr>
              <a:t>&lt; 2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517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p99 response SLA
expected by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2606040" cy="292608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10B981"/>
                </a:solidFill>
                <a:latin typeface="Calibri"/>
              </a:rPr>
              <a:t>99.9 %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517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uptime target
in 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BD38D"/>
                </a:solidFill>
                <a:latin typeface="Calibri"/>
              </a:rPr>
              <a:t>Any single worker crash can break all three guarantees simultaneously.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request crashes at token 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606040"/>
            <a:ext cx="8229600" cy="7315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50976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97864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44752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91640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38528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85416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32304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79192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926080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72968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19856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66744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13632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60520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407408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2395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83480" y="2148840"/>
            <a:ext cx="22860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56048" y="2084831"/>
            <a:ext cx="320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25" name="Oval 24"/>
          <p:cNvSpPr/>
          <p:nvPr/>
        </p:nvSpPr>
        <p:spPr>
          <a:xfrm>
            <a:off x="534924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2355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89787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7220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4652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2084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9515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26947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4380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1811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92440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66759" y="2395728"/>
            <a:ext cx="128016" cy="12801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2834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Tokens generated (200)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16002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Worker
process
killed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28346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Empty response to user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FBD38D"/>
                </a:solidFill>
                <a:latin typeface="Calibri"/>
              </a:rPr>
              <a:t>The user's cursor blinks.   The response never comes.   The request must be retried — from scratch.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obvious fix: restart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Attempt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2062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17720" y="1261872"/>
            <a:ext cx="2286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wn Arrow 7"/>
          <p:cNvSpPr/>
          <p:nvPr/>
        </p:nvSpPr>
        <p:spPr>
          <a:xfrm>
            <a:off x="411480" y="1874519"/>
            <a:ext cx="274320" cy="36576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restart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Attempt 2 (retry from scratch)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  <a:latin typeface="Calibri"/>
              </a:rPr>
              <a:t>200 tokens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9601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CRASH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  <a:latin typeface="Calibri"/>
              </a:rPr>
              <a:t>Problem: ALL tokens must be regenerated.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3075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BD38D"/>
                </a:solidFill>
                <a:latin typeface="Calibri"/>
              </a:rPr>
              <a:t>67% wasted compute.  2× latency.  Same 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9923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BD38D"/>
                </a:solidFill>
                <a:latin typeface="Calibri"/>
              </a:rPr>
              <a:t>↑  All 400 tokens recomputed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CrashSafe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1280160" cy="1188720"/>
          </a:xfrm>
          <a:prstGeom prst="rect">
            <a:avLst/>
          </a:prstGeom>
          <a:solidFill>
            <a:srgbClr val="0D9488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EAD4"/>
                </a:solidFill>
                <a:latin typeface="Calibri"/>
              </a:rPr>
              <a:t>request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2148840"/>
            <a:ext cx="73152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68880" y="1417320"/>
            <a:ext cx="2011680" cy="2011680"/>
          </a:xfrm>
          <a:prstGeom prst="rect">
            <a:avLst/>
          </a:prstGeom>
          <a:solidFill>
            <a:srgbClr val="1C283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5EEAD4"/>
                </a:solidFill>
                <a:latin typeface="Calibri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1168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round-robin
health checks
fault injection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480560" y="1234440"/>
            <a:ext cx="822960" cy="118872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80560" y="2377440"/>
            <a:ext cx="822960" cy="4572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0560" y="2423160"/>
            <a:ext cx="822960" cy="1097280"/>
          </a:xfrm>
          <a:prstGeom prst="line">
            <a:avLst/>
          </a:prstGeom>
          <a:ln w="1524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49240" y="777240"/>
            <a:ext cx="1828800" cy="868680"/>
          </a:xfrm>
          <a:prstGeom prst="rect">
            <a:avLst/>
          </a:prstGeom>
          <a:solidFill>
            <a:srgbClr val="1C283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49240" y="777240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8686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Worker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2161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  <a:latin typeface="Calibri"/>
              </a:rPr>
              <a:t>healthy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194560"/>
            <a:ext cx="1828800" cy="868680"/>
          </a:xfrm>
          <a:prstGeom prst="rect">
            <a:avLst/>
          </a:prstGeom>
          <a:solidFill>
            <a:srgbClr val="1C283E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49240" y="2194560"/>
            <a:ext cx="82296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22860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Worker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6334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EEAD4"/>
                </a:solidFill>
                <a:latin typeface="Calibri"/>
              </a:rPr>
              <a:t>healthy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611880"/>
            <a:ext cx="1828800" cy="868680"/>
          </a:xfrm>
          <a:prstGeom prst="rect">
            <a:avLst/>
          </a:prstGeom>
          <a:solidFill>
            <a:srgbClr val="1C283E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5349240" y="3611880"/>
            <a:ext cx="82296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3684713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Worker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8925" y="40690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FCA5A5"/>
                </a:solidFill>
                <a:latin typeface="Calibri"/>
              </a:rPr>
              <a:t>CRASHED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85032"/>
            <a:ext cx="320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914400"/>
            <a:ext cx="1554480" cy="3291840"/>
          </a:xfrm>
          <a:prstGeom prst="rect">
            <a:avLst/>
          </a:prstGeom>
          <a:solidFill>
            <a:srgbClr val="1C28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105156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Calibri"/>
              </a:rPr>
              <a:t>Recovery
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783080"/>
            <a:ext cx="1371600" cy="457200"/>
          </a:xfrm>
          <a:prstGeom prst="rect">
            <a:avLst/>
          </a:prstGeom>
          <a:solidFill>
            <a:srgbClr val="0A0E1A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3800" y="186537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CA5A5"/>
                </a:solidFill>
                <a:latin typeface="Calibri"/>
              </a:rPr>
              <a:t>Fail-Stop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514600"/>
            <a:ext cx="1371600" cy="457200"/>
          </a:xfrm>
          <a:prstGeom prst="rect">
            <a:avLst/>
          </a:prstGeom>
          <a:solidFill>
            <a:srgbClr val="0A0E1A"/>
          </a:solidFill>
          <a:ln w="15240">
            <a:solidFill>
              <a:srgbClr val="FB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259689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BD38D"/>
                </a:solidFill>
                <a:latin typeface="Calibri"/>
              </a:rPr>
              <a:t>Retry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3246120"/>
            <a:ext cx="1371600" cy="457200"/>
          </a:xfrm>
          <a:prstGeom prst="rect">
            <a:avLst/>
          </a:prstGeom>
          <a:solidFill>
            <a:srgbClr val="0A0E1A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43800" y="3328415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5EEAD4"/>
                </a:solidFill>
                <a:latin typeface="Calibri"/>
              </a:rPr>
              <a:t>TCR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56045" y="4457700"/>
            <a:ext cx="1828800" cy="685800"/>
          </a:xfrm>
          <a:prstGeom prst="rect">
            <a:avLst/>
          </a:prstGeom>
          <a:solidFill>
            <a:srgbClr val="1C283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303520" y="47320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FBD38D"/>
                </a:solidFill>
                <a:latin typeface="Calibri"/>
              </a:rPr>
              <a:t>Token Store (JSONL)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ways to survive a crash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1C283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CA5A5"/>
                </a:solidFill>
                <a:latin typeface="Calibri"/>
              </a:rPr>
              <a:t>FAIL-STOP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Accept the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Fail fast, return error.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46888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Calibri"/>
              </a:rPr>
              <a:t>0% overhead
0% success rate
under kill faults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005840"/>
            <a:ext cx="2651760" cy="3566160"/>
          </a:xfrm>
          <a:prstGeom prst="rect">
            <a:avLst/>
          </a:prstGeom>
          <a:solidFill>
            <a:srgbClr val="1C283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005840"/>
            <a:ext cx="26517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1430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BD38D"/>
                </a:solidFill>
                <a:latin typeface="Calibri"/>
              </a:rPr>
              <a:t>RETRY
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20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Restart from token 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26771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Brute-force correctness.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651760"/>
            <a:ext cx="246888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27432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BD38D"/>
                </a:solidFill>
                <a:latin typeface="Calibri"/>
              </a:rPr>
              <a:t>100% tokens
recomputed
2×+ 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1005840"/>
            <a:ext cx="2651760" cy="3566160"/>
          </a:xfrm>
          <a:prstGeom prst="rect">
            <a:avLst/>
          </a:prstGeom>
          <a:solidFill>
            <a:srgbClr val="1C283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1005840"/>
            <a:ext cx="26517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8776" y="114300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5EEAD4"/>
                </a:solidFill>
                <a:latin typeface="Calibri"/>
              </a:rPr>
              <a:t>TOKEN COMMIT
&amp; RESUME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920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Resume from checkpoint.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26771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Our key contribution.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2651760"/>
            <a:ext cx="246888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776" y="27432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EEAD4"/>
                </a:solidFill>
                <a:latin typeface="Calibri"/>
              </a:rPr>
              <a:t>22% tokens
recomputed
57% faster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5262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Calibri"/>
              </a:rPr>
              <a:t>★ OUR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Strategy 1: Fail-Stop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Accept the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822960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41148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26280" y="2240280"/>
            <a:ext cx="18288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84831"/>
            <a:ext cx="3657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30368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14416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98464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2512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0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50608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34656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18704" y="2514600"/>
            <a:ext cx="25603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Calibri"/>
              </a:rPr>
              <a:t>Generating tokens…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84708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CRASH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Calibri"/>
              </a:rPr>
              <a:t>Error returned to 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6400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40156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Calibri"/>
              </a:rPr>
              <a:t>Verdict: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30752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0% recovery overhead  ·  0% success rate under kill faults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Best for systems where fast failure is better than slow uncertainty.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Strategy 2: Retry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Start over. Recompute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Attempt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8229600" cy="14630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4114800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1627632"/>
            <a:ext cx="1828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548640" y="2103120"/>
            <a:ext cx="320040" cy="411480"/>
          </a:xfrm>
          <a:prstGeom prst="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exponential
backoff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Attempt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07792"/>
            <a:ext cx="8229600" cy="14630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8229600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4114800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258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CRASH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BD38D"/>
                </a:solidFill>
                <a:latin typeface="Calibri"/>
              </a:rPr>
              <a:t>← 200 tokens generated (wasted)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BD38D"/>
                </a:solidFill>
                <a:latin typeface="Calibri"/>
              </a:rPr>
              <a:t>← 400+ tokens recomputed from scratch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BD38D"/>
                </a:solidFill>
                <a:latin typeface="Calibri"/>
              </a:rPr>
              <a:t>100% success rate  ·  67% tokens wasted  ·  2605 ms recovery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159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Works — but pays the full compute price every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5EEAD4"/>
                </a:solidFill>
                <a:latin typeface="Calibri"/>
              </a:rPr>
              <a:t>★  Strategy 3: Token Commit &amp;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Resume where you left 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1371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75488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9" name="Oval 8"/>
          <p:cNvSpPr/>
          <p:nvPr/>
        </p:nvSpPr>
        <p:spPr>
          <a:xfrm>
            <a:off x="1536192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11" name="Oval 10"/>
          <p:cNvSpPr/>
          <p:nvPr/>
        </p:nvSpPr>
        <p:spPr>
          <a:xfrm>
            <a:off x="2313432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4288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13" name="Oval 12"/>
          <p:cNvSpPr/>
          <p:nvPr/>
        </p:nvSpPr>
        <p:spPr>
          <a:xfrm>
            <a:off x="3090672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7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15" name="Oval 14"/>
          <p:cNvSpPr/>
          <p:nvPr/>
        </p:nvSpPr>
        <p:spPr>
          <a:xfrm>
            <a:off x="3867911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8768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171907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1700784"/>
            <a:ext cx="228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EEAD4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32588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5EEAD4"/>
                </a:solidFill>
                <a:latin typeface="Calibri"/>
              </a:rPr>
              <a:t>checkpoints
(JSONL)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977639" y="1719072"/>
            <a:ext cx="118873" cy="109728"/>
          </a:xfrm>
          <a:prstGeom prst="line">
            <a:avLst/>
          </a:prstGeom>
          <a:ln w="127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773168" y="1719072"/>
            <a:ext cx="1828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1572768"/>
            <a:ext cx="3474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2618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CRASH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176272"/>
            <a:ext cx="1371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3657600" y="2130552"/>
            <a:ext cx="274320" cy="2743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31920" y="1920240"/>
            <a:ext cx="475488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67911" y="223368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rgbClr val="5EEAD4"/>
                </a:solidFill>
                <a:latin typeface="Calibri"/>
              </a:rPr>
              <a:t>Resume from token 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920240"/>
            <a:ext cx="4754880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64008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299923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5EEAD4"/>
                </a:solidFill>
                <a:latin typeface="Calibri"/>
              </a:rPr>
              <a:t>Only recompute from last checkpoint  →  22% of tokens recomputed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401568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Recovery time: 1062 ms  (vs 2605 ms for retry)  →  −57%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76732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Output is identical to full generation — output equivalence guaranteed by deterministic token sampling.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−57% recovery time  ·  −65% recomputed 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Token Commit &amp; Resume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25880" y="1234440"/>
            <a:ext cx="868680" cy="868680"/>
          </a:xfrm>
          <a:prstGeom prst="ellipse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298448"/>
            <a:ext cx="868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Generate &amp;
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Each token appended
to JSONL on disk.
Atomic line writes.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33172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606040" cy="320040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6060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60520" y="1234440"/>
            <a:ext cx="868680" cy="868680"/>
          </a:xfrm>
          <a:prstGeom prst="ellipse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298448"/>
            <a:ext cx="868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Crash
occurs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718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Worker process
killed mid-stream.
Checkpoint survives.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233172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097280"/>
            <a:ext cx="2606040" cy="320040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0972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95160" y="1234440"/>
            <a:ext cx="868680" cy="868680"/>
          </a:xfrm>
          <a:prstGeom prst="ellipse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1298448"/>
            <a:ext cx="868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240280"/>
            <a:ext cx="2331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Load &amp;
resume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718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Read committed tokens.
Build resume request.
Generate from token 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50799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EEAD4"/>
                </a:solidFill>
                <a:latin typeface="Calibri"/>
              </a:rPr>
              <a:t>{position: 42, token_id: 1138, text: " distributed"}  →  JSONL checkpoint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Recovery timeline: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4251960"/>
            <a:ext cx="6400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43159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3159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2605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  <a:latin typeface="Calibri"/>
              </a:rPr>
              <a:t>FAIL-STOP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005840"/>
            <a:ext cx="6400800" cy="347472"/>
          </a:xfrm>
          <a:prstGeom prst="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05156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  <a:latin typeface="Calibri"/>
              </a:rPr>
              <a:t>returns ERROR immediately — no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BD38D"/>
                </a:solidFill>
                <a:latin typeface="Calibri"/>
              </a:rPr>
              <a:t>RETRY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331720"/>
            <a:ext cx="6400800" cy="347472"/>
          </a:xfrm>
          <a:prstGeom prst="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0" y="2331720"/>
            <a:ext cx="640080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377439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2605 ms — all tokens recomputed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TOKEN 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657600"/>
            <a:ext cx="6400800" cy="347472"/>
          </a:xfrm>
          <a:prstGeom prst="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94560" y="3657600"/>
            <a:ext cx="260946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0" y="37033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1062 ms — resumes from checkpoint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337560"/>
            <a:ext cx="3108960" cy="640080"/>
          </a:xfrm>
          <a:prstGeom prst="rect">
            <a:avLst/>
          </a:prstGeom>
          <a:solidFill>
            <a:srgbClr val="1C283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3429000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5EEAD4"/>
                </a:solidFill>
                <a:latin typeface="Calibri"/>
              </a:rPr>
              <a:t>TCR saves 1543 ms  (−59%)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 design: 108 cells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1024128"/>
            <a:ext cx="1636776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39" y="1033271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7872" y="1024128"/>
            <a:ext cx="1636776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1" y="1033271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1224" y="1024128"/>
            <a:ext cx="163677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66944" y="1033271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4576" y="1024128"/>
            <a:ext cx="163677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0296" y="1033271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3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7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7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12984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×8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44475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Fail-Stop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94767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450592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TCR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2807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50591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08375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66160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23944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81727" y="1389888"/>
            <a:ext cx="502920" cy="448056"/>
          </a:xfrm>
          <a:prstGeom prst="rect">
            <a:avLst/>
          </a:prstGeom>
          <a:solidFill>
            <a:srgbClr val="5014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39512" y="138988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97295" y="138988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79" y="138988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12864" y="138988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0647" y="138988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1" y="138988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92807" y="1892807"/>
            <a:ext cx="502920" cy="448056"/>
          </a:xfrm>
          <a:prstGeom prst="rect">
            <a:avLst/>
          </a:prstGeom>
          <a:solidFill>
            <a:srgbClr val="3C32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50591" y="1892807"/>
            <a:ext cx="502920" cy="448056"/>
          </a:xfrm>
          <a:prstGeom prst="rect">
            <a:avLst/>
          </a:prstGeom>
          <a:solidFill>
            <a:srgbClr val="3C32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008375" y="1892807"/>
            <a:ext cx="502920" cy="448056"/>
          </a:xfrm>
          <a:prstGeom prst="rect">
            <a:avLst/>
          </a:prstGeom>
          <a:solidFill>
            <a:srgbClr val="3C3214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566160" y="1892807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23944" y="1892807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81727" y="1892807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239512" y="1892807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97295" y="1892807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55079" y="1892807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12864" y="1892807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70647" y="1892807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28431" y="1892807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892807" y="2395728"/>
            <a:ext cx="502920" cy="448056"/>
          </a:xfrm>
          <a:prstGeom prst="rect">
            <a:avLst/>
          </a:prstGeom>
          <a:solidFill>
            <a:srgbClr val="0A322D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450591" y="2395728"/>
            <a:ext cx="502920" cy="448056"/>
          </a:xfrm>
          <a:prstGeom prst="rect">
            <a:avLst/>
          </a:prstGeom>
          <a:solidFill>
            <a:srgbClr val="0A322D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08375" y="2395728"/>
            <a:ext cx="502920" cy="448056"/>
          </a:xfrm>
          <a:prstGeom prst="rect">
            <a:avLst/>
          </a:prstGeom>
          <a:solidFill>
            <a:srgbClr val="0A322D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566160" y="2395728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123944" y="2395728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681727" y="2395728"/>
            <a:ext cx="502920" cy="448056"/>
          </a:xfrm>
          <a:prstGeom prst="rect">
            <a:avLst/>
          </a:prstGeom>
          <a:solidFill>
            <a:srgbClr val="1428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239512" y="239572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97295" y="239572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55079" y="2395728"/>
            <a:ext cx="502920" cy="448056"/>
          </a:xfrm>
          <a:prstGeom prst="rect">
            <a:avLst/>
          </a:prstGeom>
          <a:solidFill>
            <a:srgbClr val="14233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12864" y="239572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470647" y="239572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28431" y="2395728"/>
            <a:ext cx="502920" cy="448056"/>
          </a:xfrm>
          <a:prstGeom prst="rect">
            <a:avLst/>
          </a:prstGeom>
          <a:solidFill>
            <a:srgbClr val="143223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3 strategies  ×  4 fault types  ×  3 concurrencies  ×  3 prompt lengths  =  108 cells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10 requests per cell  ·  P50 / P95 / P99 latency  ·  structlog metrics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under KILL faults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575355"/>
              </p:ext>
            </p:extLst>
          </p:nvPr>
        </p:nvGraphicFramePr>
        <p:xfrm>
          <a:off x="365760" y="100584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108872"/>
              </p:ext>
            </p:extLst>
          </p:nvPr>
        </p:nvGraphicFramePr>
        <p:xfrm>
          <a:off x="4663440" y="100584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1C28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  <a:latin typeface="Calibri"/>
              </a:rPr>
              <a:t>TCR:  −57% recovery time  (1062 ms vs 2605 ms)  ·  −65% tokens recomputed  (22% vs 67%)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"The smarter the checkpoint,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5EEAD4"/>
                </a:solidFill>
                <a:latin typeface="Calibri"/>
              </a:rPr>
              <a:t>  the less you recompute."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45720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Token-level granularity beats block-level or request-level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Checkpoint interval determines the worst-case recomputation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alibri"/>
              </a:rPr>
              <a:t>Finer granularity → less wasted work → lower recovery latency → better SLAs.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7498079" cy="685800"/>
          </a:xfrm>
          <a:prstGeom prst="rect">
            <a:avLst/>
          </a:prstGeom>
          <a:solidFill>
            <a:srgbClr val="1C283E"/>
          </a:solidFill>
          <a:ln w="19050">
            <a:solidFill>
              <a:srgbClr val="0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279392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  <a:latin typeface="Calibri"/>
              </a:rPr>
              <a:t>Key design question for any recovery system:  What is the unit of checkpointing?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i="0" dirty="0">
                <a:solidFill>
                  <a:srgbClr val="5EEAD4"/>
                </a:solidFill>
                <a:latin typeface="Calibri"/>
              </a:rPr>
              <a:t>CRASHSAFE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 dirty="0">
                <a:solidFill>
                  <a:srgbClr val="64748B"/>
                </a:solidFill>
                <a:latin typeface="Calibri"/>
              </a:rPr>
              <a:t>Fault Tolerance and Recovery in Distributed LLM Inference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  <a:latin typeface="Calibri"/>
              </a:rPr>
              <a:t>✓  Token Commit &amp; Resume achieves 100% success rate</a:t>
            </a:r>
          </a:p>
          <a:p>
            <a:pPr algn="l"/>
            <a:r>
              <a:rPr sz="1400" b="1">
                <a:solidFill>
                  <a:srgbClr val="6EE7B7"/>
                </a:solidFill>
                <a:latin typeface="Calibri"/>
              </a:rPr>
              <a:t>✓  57% lower recovery time vs. Retry from Scratch</a:t>
            </a:r>
          </a:p>
          <a:p>
            <a:pPr algn="l"/>
            <a:r>
              <a:rPr sz="1400" b="1">
                <a:solidFill>
                  <a:srgbClr val="6EE7B7"/>
                </a:solidFill>
                <a:latin typeface="Calibri"/>
              </a:rPr>
              <a:t>✓  65% fewer tokens recomputed</a:t>
            </a:r>
          </a:p>
          <a:p>
            <a:pPr algn="l"/>
            <a:r>
              <a:rPr sz="1300" b="0">
                <a:solidFill>
                  <a:srgbClr val="5EEAD4"/>
                </a:solidFill>
                <a:latin typeface="Calibri"/>
              </a:rPr>
              <a:t>✓  Output equivalence: identical responses guaranteed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4572000" cy="685800"/>
          </a:xfrm>
          <a:prstGeom prst="rect">
            <a:avLst/>
          </a:prstGeom>
          <a:solidFill>
            <a:srgbClr val="1C283E"/>
          </a:solidFill>
          <a:ln w="19050">
            <a:solidFill>
              <a:srgbClr val="06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5EEAD4"/>
                </a:solidFill>
                <a:latin typeface="Calibri"/>
                <a:hlinkClick r:id="rId3"/>
              </a:rPr>
              <a:t>github.com / Team8 / CrashSafe</a:t>
            </a:r>
            <a:endParaRPr sz="1400" b="0" i="1" dirty="0">
              <a:solidFill>
                <a:srgbClr val="5EEAD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0" y="1645920"/>
            <a:ext cx="3291840" cy="320040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828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Calibri"/>
              </a:rPr>
              <a:t>Team CrashSafe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3055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>
                <a:solidFill>
                  <a:srgbClr val="64748B"/>
                </a:solidFill>
                <a:latin typeface="Calibri"/>
              </a:rPr>
              <a:t>CECS 574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0662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Topics in Distributed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63240"/>
            <a:ext cx="27432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3218688"/>
            <a:ext cx="29260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b="1" i="0" dirty="0">
                <a:solidFill>
                  <a:srgbClr val="5EEAD4"/>
                </a:solidFill>
                <a:latin typeface="Calibri"/>
              </a:rPr>
              <a:t>Thank You !</a:t>
            </a:r>
            <a:endParaRPr sz="2000" b="1" i="0" dirty="0">
              <a:solidFill>
                <a:srgbClr val="5EEAD4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solidFill>
            <a:srgbClr val="1C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Team CrashSafe  ·  Fault Tolerance and Recovery in Distributed LLM Inference  ·  CECS 574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1772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3535</Words>
  <Application>Microsoft Office PowerPoint</Application>
  <PresentationFormat>On-screen Show (16:9)</PresentationFormat>
  <Paragraphs>394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Mohammed Sami Abedi</cp:lastModifiedBy>
  <cp:revision>2</cp:revision>
  <dcterms:created xsi:type="dcterms:W3CDTF">2013-01-27T09:14:16Z</dcterms:created>
  <dcterms:modified xsi:type="dcterms:W3CDTF">2026-04-12T22:46:27Z</dcterms:modified>
  <cp:category/>
</cp:coreProperties>
</file>